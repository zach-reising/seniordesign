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Nunito"/>
      <p:regular r:id="rId15"/>
      <p:bold r:id="rId16"/>
      <p:italic r:id="rId17"/>
      <p:boldItalic r:id="rId18"/>
    </p:embeddedFont>
    <p:embeddedFont>
      <p:font typeface="Maven Pro"/>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bold.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Nunito-regular.fntdata"/><Relationship Id="rId14" Type="http://schemas.openxmlformats.org/officeDocument/2006/relationships/slide" Target="slides/slide9.xml"/><Relationship Id="rId17" Type="http://schemas.openxmlformats.org/officeDocument/2006/relationships/font" Target="fonts/Nunito-italic.fntdata"/><Relationship Id="rId16" Type="http://schemas.openxmlformats.org/officeDocument/2006/relationships/font" Target="fonts/Nunito-bold.fntdata"/><Relationship Id="rId5" Type="http://schemas.openxmlformats.org/officeDocument/2006/relationships/notesMaster" Target="notesMasters/notesMaster1.xml"/><Relationship Id="rId19" Type="http://schemas.openxmlformats.org/officeDocument/2006/relationships/font" Target="fonts/MavenPro-regular.fntdata"/><Relationship Id="rId6" Type="http://schemas.openxmlformats.org/officeDocument/2006/relationships/slide" Target="slides/slide1.xml"/><Relationship Id="rId18"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8abe1bbd4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c8abe1bbd4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c8abe1bbd4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c8abe1bbd4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c8abe1bbd4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c8abe1bbd4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c8abe1bbd4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c8abe1bbd4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8abe1bbd4_0_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c8abe1bbd4_0_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8abe1bbd4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c8abe1bbd4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c8abe1bbd4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c8abe1bbd4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8abe1bbd4_0_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c8abe1bbd4_0_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Crowdsource Litter Pickup</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0"/>
              </a:spcAft>
              <a:buNone/>
            </a:pPr>
            <a:r>
              <a:rPr lang="en"/>
              <a:t>Team: Zach Reising, Tommy Tuttle, Jacob Towne, Michael Mazzella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Advisor: Badri Vellambi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Background and Goals</a:t>
            </a:r>
            <a:endParaRPr/>
          </a:p>
        </p:txBody>
      </p:sp>
      <p:sp>
        <p:nvSpPr>
          <p:cNvPr id="284" name="Google Shape;284;p14"/>
          <p:cNvSpPr txBox="1"/>
          <p:nvPr/>
        </p:nvSpPr>
        <p:spPr>
          <a:xfrm>
            <a:off x="1303800" y="1323600"/>
            <a:ext cx="6149700" cy="3578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500">
                <a:solidFill>
                  <a:schemeClr val="dk2"/>
                </a:solidFill>
                <a:latin typeface="Nunito"/>
                <a:ea typeface="Nunito"/>
                <a:cs typeface="Nunito"/>
                <a:sym typeface="Nunito"/>
              </a:rPr>
              <a:t>Background</a:t>
            </a:r>
            <a:endParaRPr b="1" sz="1500">
              <a:solidFill>
                <a:schemeClr val="dk2"/>
              </a:solidFill>
              <a:latin typeface="Nunito"/>
              <a:ea typeface="Nunito"/>
              <a:cs typeface="Nunito"/>
              <a:sym typeface="Nunito"/>
            </a:endParaRPr>
          </a:p>
          <a:p>
            <a:pPr indent="0" lvl="0" marL="0" rtl="0" algn="l">
              <a:lnSpc>
                <a:spcPct val="150000"/>
              </a:lnSpc>
              <a:spcBef>
                <a:spcPts val="0"/>
              </a:spcBef>
              <a:spcAft>
                <a:spcPts val="0"/>
              </a:spcAft>
              <a:buNone/>
            </a:pPr>
            <a:r>
              <a:rPr lang="en" sz="1100">
                <a:solidFill>
                  <a:schemeClr val="dk2"/>
                </a:solidFill>
                <a:latin typeface="Nunito"/>
                <a:ea typeface="Nunito"/>
                <a:cs typeface="Nunito"/>
                <a:sym typeface="Nunito"/>
              </a:rPr>
              <a:t>Litter in public spaces remains a continuous environmental and public health challenge in many communities. Existing reporting systems are reactive, confusing and may only be for certain areas. These systems also usually rely on manual complaints or inspections by officials. As a result of this, cleanup efforts can be delayed, inefficient and unevenly distributed across neighborhoods.</a:t>
            </a:r>
            <a:endParaRPr sz="1100">
              <a:solidFill>
                <a:schemeClr val="dk2"/>
              </a:solidFill>
              <a:latin typeface="Nunito"/>
              <a:ea typeface="Nunito"/>
              <a:cs typeface="Nunito"/>
              <a:sym typeface="Nunito"/>
            </a:endParaRPr>
          </a:p>
          <a:p>
            <a:pPr indent="0" lvl="0" marL="0" rtl="0" algn="l">
              <a:lnSpc>
                <a:spcPct val="150000"/>
              </a:lnSpc>
              <a:spcBef>
                <a:spcPts val="0"/>
              </a:spcBef>
              <a:spcAft>
                <a:spcPts val="0"/>
              </a:spcAft>
              <a:buNone/>
            </a:pPr>
            <a:r>
              <a:rPr b="1" lang="en" sz="1500">
                <a:solidFill>
                  <a:schemeClr val="dk2"/>
                </a:solidFill>
                <a:latin typeface="Nunito"/>
                <a:ea typeface="Nunito"/>
                <a:cs typeface="Nunito"/>
                <a:sym typeface="Nunito"/>
              </a:rPr>
              <a:t>Goals</a:t>
            </a:r>
            <a:endParaRPr b="1" sz="1500">
              <a:solidFill>
                <a:schemeClr val="dk2"/>
              </a:solidFill>
              <a:latin typeface="Nunito"/>
              <a:ea typeface="Nunito"/>
              <a:cs typeface="Nunito"/>
              <a:sym typeface="Nunito"/>
            </a:endParaRPr>
          </a:p>
          <a:p>
            <a:pPr indent="0" lvl="0" marL="0" rtl="0" algn="l">
              <a:lnSpc>
                <a:spcPct val="150000"/>
              </a:lnSpc>
              <a:spcBef>
                <a:spcPts val="0"/>
              </a:spcBef>
              <a:spcAft>
                <a:spcPts val="0"/>
              </a:spcAft>
              <a:buNone/>
            </a:pPr>
            <a:r>
              <a:rPr lang="en" sz="1100">
                <a:solidFill>
                  <a:schemeClr val="dk2"/>
                </a:solidFill>
                <a:latin typeface="Nunito"/>
                <a:ea typeface="Nunito"/>
                <a:cs typeface="Nunito"/>
                <a:sym typeface="Nunito"/>
              </a:rPr>
              <a:t>The goal of our project is to design and implement a web application that allows community members to easily report areas with high litter concentration and enable volunteer organizations and city officials to coordinate cleanup efforts. By integrating an interactive map, user-submitted data, and automated analysis to identify litter hotspots, our system aims to improve environmental conditions, promote civic responsibility, and enhance the quality of life in local communities through data driven decision making.</a:t>
            </a:r>
            <a:endParaRPr sz="1100">
              <a:solidFill>
                <a:schemeClr val="dk2"/>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Intellectual Merits</a:t>
            </a:r>
            <a:endParaRPr/>
          </a:p>
        </p:txBody>
      </p:sp>
      <p:sp>
        <p:nvSpPr>
          <p:cNvPr id="290" name="Google Shape;290;p15"/>
          <p:cNvSpPr txBox="1"/>
          <p:nvPr>
            <p:ph idx="1" type="body"/>
          </p:nvPr>
        </p:nvSpPr>
        <p:spPr>
          <a:xfrm>
            <a:off x="1303800" y="1597875"/>
            <a:ext cx="7030500" cy="293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t>Innovative &amp; Technical Contributions</a:t>
            </a:r>
            <a:endParaRPr sz="1500"/>
          </a:p>
          <a:p>
            <a:pPr indent="-311150" lvl="0" marL="457200" rtl="0" algn="l">
              <a:spcBef>
                <a:spcPts val="1200"/>
              </a:spcBef>
              <a:spcAft>
                <a:spcPts val="0"/>
              </a:spcAft>
              <a:buSzPts val="1300"/>
              <a:buChar char="-"/>
            </a:pPr>
            <a:r>
              <a:rPr lang="en"/>
              <a:t>Integration of interactive map with real time user generated data</a:t>
            </a:r>
            <a:endParaRPr/>
          </a:p>
          <a:p>
            <a:pPr indent="-311150" lvl="0" marL="457200" rtl="0" algn="l">
              <a:spcBef>
                <a:spcPts val="0"/>
              </a:spcBef>
              <a:spcAft>
                <a:spcPts val="0"/>
              </a:spcAft>
              <a:buSzPts val="1300"/>
              <a:buChar char="-"/>
            </a:pPr>
            <a:r>
              <a:rPr lang="en"/>
              <a:t>AI based image </a:t>
            </a:r>
            <a:r>
              <a:rPr lang="en"/>
              <a:t>classification</a:t>
            </a:r>
            <a:endParaRPr/>
          </a:p>
          <a:p>
            <a:pPr indent="-311150" lvl="0" marL="457200" rtl="0" algn="l">
              <a:spcBef>
                <a:spcPts val="0"/>
              </a:spcBef>
              <a:spcAft>
                <a:spcPts val="0"/>
              </a:spcAft>
              <a:buSzPts val="1300"/>
              <a:buChar char="-"/>
            </a:pPr>
            <a:r>
              <a:rPr lang="en"/>
              <a:t>Role based authentication system</a:t>
            </a:r>
            <a:endParaRPr/>
          </a:p>
          <a:p>
            <a:pPr indent="0" lvl="0" marL="0" rtl="0" algn="l">
              <a:spcBef>
                <a:spcPts val="1200"/>
              </a:spcBef>
              <a:spcAft>
                <a:spcPts val="0"/>
              </a:spcAft>
              <a:buNone/>
            </a:pPr>
            <a:r>
              <a:rPr b="1" lang="en" sz="1500"/>
              <a:t>Why It’s Interesting</a:t>
            </a:r>
            <a:endParaRPr sz="1500"/>
          </a:p>
          <a:p>
            <a:pPr indent="-311150" lvl="0" marL="457200" rtl="0" algn="l">
              <a:spcBef>
                <a:spcPts val="1200"/>
              </a:spcBef>
              <a:spcAft>
                <a:spcPts val="0"/>
              </a:spcAft>
              <a:buSzPts val="1300"/>
              <a:buChar char="-"/>
            </a:pPr>
            <a:r>
              <a:rPr lang="en"/>
              <a:t>Combines environmental sustainability with the use of technology</a:t>
            </a:r>
            <a:endParaRPr/>
          </a:p>
          <a:p>
            <a:pPr indent="-311150" lvl="0" marL="457200" rtl="0" algn="l">
              <a:spcBef>
                <a:spcPts val="0"/>
              </a:spcBef>
              <a:spcAft>
                <a:spcPts val="0"/>
              </a:spcAft>
              <a:buSzPts val="1300"/>
              <a:buChar char="-"/>
            </a:pPr>
            <a:r>
              <a:rPr lang="en"/>
              <a:t>Demonstrates</a:t>
            </a:r>
            <a:r>
              <a:rPr lang="en"/>
              <a:t> a practical application of AI that directly saves time and effort for the user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Broader Impacts</a:t>
            </a:r>
            <a:endParaRPr/>
          </a:p>
        </p:txBody>
      </p:sp>
      <p:sp>
        <p:nvSpPr>
          <p:cNvPr id="296" name="Google Shape;296;p16"/>
          <p:cNvSpPr txBox="1"/>
          <p:nvPr>
            <p:ph idx="1" type="body"/>
          </p:nvPr>
        </p:nvSpPr>
        <p:spPr>
          <a:xfrm>
            <a:off x="1339050" y="1542125"/>
            <a:ext cx="7171500" cy="301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Environmental Sustainability</a:t>
            </a:r>
            <a:r>
              <a:rPr lang="en" sz="1400"/>
              <a:t> - Our project helps environmental sustainability by providing real time identification of litter in public spaces. Using community reporting with our AI based litter concentration classifier we provide data driven clean up prioritization.</a:t>
            </a:r>
            <a:endParaRPr sz="1400"/>
          </a:p>
          <a:p>
            <a:pPr indent="0" lvl="0" marL="0" rtl="0" algn="l">
              <a:spcBef>
                <a:spcPts val="1200"/>
              </a:spcBef>
              <a:spcAft>
                <a:spcPts val="0"/>
              </a:spcAft>
              <a:buNone/>
            </a:pPr>
            <a:r>
              <a:rPr b="1" lang="en" sz="1400"/>
              <a:t>Public Health</a:t>
            </a:r>
            <a:r>
              <a:rPr lang="en" sz="1400"/>
              <a:t> - Reducing litter directly contributes to improved public health through decreased stormwater pollution, reduced wildlife harm and better urban environmental quality.</a:t>
            </a:r>
            <a:endParaRPr sz="1400"/>
          </a:p>
          <a:p>
            <a:pPr indent="0" lvl="0" marL="0" rtl="0" algn="l">
              <a:spcBef>
                <a:spcPts val="1200"/>
              </a:spcBef>
              <a:spcAft>
                <a:spcPts val="1200"/>
              </a:spcAft>
              <a:buNone/>
            </a:pPr>
            <a:r>
              <a:rPr b="1" lang="en" sz="1400"/>
              <a:t>Community Empowerment</a:t>
            </a:r>
            <a:r>
              <a:rPr lang="en" sz="1400"/>
              <a:t> - Our application helps individuals actively participate in cleaning their cities by </a:t>
            </a:r>
            <a:r>
              <a:rPr lang="en" sz="1400"/>
              <a:t>marking</a:t>
            </a:r>
            <a:r>
              <a:rPr lang="en" sz="1400"/>
              <a:t> locations with high litter and then participating in the cleanup events.</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Design Specifications</a:t>
            </a:r>
            <a:endParaRPr/>
          </a:p>
        </p:txBody>
      </p:sp>
      <p:sp>
        <p:nvSpPr>
          <p:cNvPr id="302" name="Google Shape;302;p17"/>
          <p:cNvSpPr txBox="1"/>
          <p:nvPr>
            <p:ph idx="1" type="body"/>
          </p:nvPr>
        </p:nvSpPr>
        <p:spPr>
          <a:xfrm>
            <a:off x="1303800" y="1532075"/>
            <a:ext cx="7030500" cy="318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Users must:</a:t>
            </a:r>
            <a:endParaRPr/>
          </a:p>
          <a:p>
            <a:pPr indent="-311150" lvl="0" marL="457200" rtl="0" algn="l">
              <a:spcBef>
                <a:spcPts val="1200"/>
              </a:spcBef>
              <a:spcAft>
                <a:spcPts val="0"/>
              </a:spcAft>
              <a:buSzPts val="1300"/>
              <a:buChar char="●"/>
            </a:pPr>
            <a:r>
              <a:rPr lang="en"/>
              <a:t>Be able to create, modify, and delete their accounts</a:t>
            </a:r>
            <a:endParaRPr/>
          </a:p>
          <a:p>
            <a:pPr indent="-311150" lvl="0" marL="457200" rtl="0" algn="l">
              <a:spcBef>
                <a:spcPts val="0"/>
              </a:spcBef>
              <a:spcAft>
                <a:spcPts val="0"/>
              </a:spcAft>
              <a:buSzPts val="1300"/>
              <a:buChar char="●"/>
            </a:pPr>
            <a:r>
              <a:rPr lang="en"/>
              <a:t>Be able to create and join groups with correct permissions</a:t>
            </a:r>
            <a:endParaRPr/>
          </a:p>
          <a:p>
            <a:pPr indent="-311150" lvl="0" marL="457200" rtl="0" algn="l">
              <a:spcBef>
                <a:spcPts val="0"/>
              </a:spcBef>
              <a:spcAft>
                <a:spcPts val="0"/>
              </a:spcAft>
              <a:buSzPts val="1300"/>
              <a:buChar char="●"/>
            </a:pPr>
            <a:r>
              <a:rPr lang="en"/>
              <a:t>Create, modify, delete events if their role permits</a:t>
            </a:r>
            <a:endParaRPr/>
          </a:p>
          <a:p>
            <a:pPr indent="-311150" lvl="0" marL="457200" rtl="0" algn="l">
              <a:spcBef>
                <a:spcPts val="0"/>
              </a:spcBef>
              <a:spcAft>
                <a:spcPts val="0"/>
              </a:spcAft>
              <a:buSzPts val="1300"/>
              <a:buChar char="●"/>
            </a:pPr>
            <a:r>
              <a:rPr lang="en"/>
              <a:t>Create and update reports directly on the map</a:t>
            </a:r>
            <a:endParaRPr/>
          </a:p>
          <a:p>
            <a:pPr indent="0" lvl="0" marL="0" rtl="0" algn="l">
              <a:spcBef>
                <a:spcPts val="1200"/>
              </a:spcBef>
              <a:spcAft>
                <a:spcPts val="0"/>
              </a:spcAft>
              <a:buNone/>
            </a:pPr>
            <a:r>
              <a:rPr lang="en"/>
              <a:t>The design should include:</a:t>
            </a:r>
            <a:endParaRPr/>
          </a:p>
          <a:p>
            <a:pPr indent="-311150" lvl="0" marL="457200" rtl="0" algn="l">
              <a:spcBef>
                <a:spcPts val="1200"/>
              </a:spcBef>
              <a:spcAft>
                <a:spcPts val="0"/>
              </a:spcAft>
              <a:buSzPts val="1300"/>
              <a:buChar char="●"/>
            </a:pPr>
            <a:r>
              <a:rPr lang="en"/>
              <a:t>Fast API and database response times to lower the effort needed to report</a:t>
            </a:r>
            <a:endParaRPr/>
          </a:p>
          <a:p>
            <a:pPr indent="-311150" lvl="0" marL="457200" rtl="0" algn="l">
              <a:spcBef>
                <a:spcPts val="0"/>
              </a:spcBef>
              <a:spcAft>
                <a:spcPts val="0"/>
              </a:spcAft>
              <a:buSzPts val="1300"/>
              <a:buChar char="●"/>
            </a:pPr>
            <a:r>
              <a:rPr lang="en"/>
              <a:t>AI image classification where it’s needed to reduce user effort</a:t>
            </a:r>
            <a:endParaRPr/>
          </a:p>
          <a:p>
            <a:pPr indent="-311150" lvl="0" marL="457200" rtl="0" algn="l">
              <a:spcBef>
                <a:spcPts val="0"/>
              </a:spcBef>
              <a:spcAft>
                <a:spcPts val="0"/>
              </a:spcAft>
              <a:buSzPts val="1300"/>
              <a:buChar char="●"/>
            </a:pPr>
            <a:r>
              <a:rPr lang="en"/>
              <a:t>Simple, clean, minimalist UI for a good user experience</a:t>
            </a:r>
            <a:endParaRPr/>
          </a:p>
          <a:p>
            <a:pPr indent="-311150" lvl="0" marL="457200" rtl="0" algn="l">
              <a:spcBef>
                <a:spcPts val="0"/>
              </a:spcBef>
              <a:spcAft>
                <a:spcPts val="0"/>
              </a:spcAft>
              <a:buSzPts val="1300"/>
              <a:buChar char="●"/>
            </a:pPr>
            <a:r>
              <a:rPr lang="en"/>
              <a:t>Quick onboarding process</a:t>
            </a:r>
            <a:endParaRPr/>
          </a:p>
          <a:p>
            <a:pPr indent="-311150" lvl="0" marL="457200" rtl="0" algn="l">
              <a:spcBef>
                <a:spcPts val="0"/>
              </a:spcBef>
              <a:spcAft>
                <a:spcPts val="0"/>
              </a:spcAft>
              <a:buSzPts val="1300"/>
              <a:buChar char="●"/>
            </a:pPr>
            <a:r>
              <a:rPr lang="en"/>
              <a:t>Mobile-first UI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Technologies</a:t>
            </a:r>
            <a:endParaRPr/>
          </a:p>
        </p:txBody>
      </p:sp>
      <p:sp>
        <p:nvSpPr>
          <p:cNvPr id="308" name="Google Shape;308;p18"/>
          <p:cNvSpPr txBox="1"/>
          <p:nvPr>
            <p:ph idx="1" type="body"/>
          </p:nvPr>
        </p:nvSpPr>
        <p:spPr>
          <a:xfrm>
            <a:off x="1303800" y="1798800"/>
            <a:ext cx="7030500" cy="25416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n"/>
              <a:t>For our project we </a:t>
            </a:r>
            <a:r>
              <a:rPr lang="en"/>
              <a:t>integrated</a:t>
            </a:r>
            <a:r>
              <a:rPr lang="en"/>
              <a:t> a Ionic React frontend with a Supabase backend and database as well as the OpenStreetMap API. The OpenStreetMap API geoJSON data is stored with PostGIS, a PostgreSQL add-on. We developed an AI model to be able to identify high concentrations of litter from an image and update the map. This was integrated with the Supabase backend and database to update locations.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Milestones</a:t>
            </a:r>
            <a:endParaRPr/>
          </a:p>
        </p:txBody>
      </p:sp>
      <p:sp>
        <p:nvSpPr>
          <p:cNvPr id="314" name="Google Shape;314;p1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Created and correctly set up Supabase database backend, providing authentication, storage, and access to create cron jobs (Feb 3)</a:t>
            </a:r>
            <a:endParaRPr/>
          </a:p>
          <a:p>
            <a:pPr indent="-311150" lvl="0" marL="457200" rtl="0" algn="l">
              <a:lnSpc>
                <a:spcPct val="150000"/>
              </a:lnSpc>
              <a:spcBef>
                <a:spcPts val="0"/>
              </a:spcBef>
              <a:spcAft>
                <a:spcPts val="0"/>
              </a:spcAft>
              <a:buSzPts val="1300"/>
              <a:buChar char="●"/>
            </a:pPr>
            <a:r>
              <a:rPr lang="en"/>
              <a:t>UI design (Feb 25)</a:t>
            </a:r>
            <a:endParaRPr/>
          </a:p>
          <a:p>
            <a:pPr indent="-311150" lvl="0" marL="457200" rtl="0" algn="l">
              <a:lnSpc>
                <a:spcPct val="150000"/>
              </a:lnSpc>
              <a:spcBef>
                <a:spcPts val="0"/>
              </a:spcBef>
              <a:spcAft>
                <a:spcPts val="0"/>
              </a:spcAft>
              <a:buSzPts val="1300"/>
              <a:buChar char="●"/>
            </a:pPr>
            <a:r>
              <a:rPr lang="en"/>
              <a:t>Map integration (Mar 4)</a:t>
            </a:r>
            <a:endParaRPr/>
          </a:p>
          <a:p>
            <a:pPr indent="-311150" lvl="0" marL="457200" rtl="0" algn="l">
              <a:lnSpc>
                <a:spcPct val="150000"/>
              </a:lnSpc>
              <a:spcBef>
                <a:spcPts val="0"/>
              </a:spcBef>
              <a:spcAft>
                <a:spcPts val="0"/>
              </a:spcAft>
              <a:buSzPts val="1300"/>
              <a:buChar char="●"/>
            </a:pPr>
            <a:r>
              <a:rPr lang="en"/>
              <a:t>Group Management (Mar 4)</a:t>
            </a:r>
            <a:endParaRPr/>
          </a:p>
          <a:p>
            <a:pPr indent="-311150" lvl="0" marL="457200" rtl="0" algn="l">
              <a:lnSpc>
                <a:spcPct val="150000"/>
              </a:lnSpc>
              <a:spcBef>
                <a:spcPts val="0"/>
              </a:spcBef>
              <a:spcAft>
                <a:spcPts val="0"/>
              </a:spcAft>
              <a:buSzPts val="1300"/>
              <a:buChar char="●"/>
            </a:pPr>
            <a:r>
              <a:rPr lang="en"/>
              <a:t>AI model (Mar 11)</a:t>
            </a:r>
            <a:endParaRPr/>
          </a:p>
          <a:p>
            <a:pPr indent="-311150" lvl="0" marL="457200" rtl="0" algn="l">
              <a:lnSpc>
                <a:spcPct val="150000"/>
              </a:lnSpc>
              <a:spcBef>
                <a:spcPts val="0"/>
              </a:spcBef>
              <a:spcAft>
                <a:spcPts val="0"/>
              </a:spcAft>
              <a:buSzPts val="1300"/>
              <a:buChar char="●"/>
            </a:pPr>
            <a:r>
              <a:rPr lang="en"/>
              <a:t>Testing, Deployment, Documentation, Poster (Mar 18)</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a:t>
            </a:r>
            <a:endParaRPr/>
          </a:p>
        </p:txBody>
      </p:sp>
      <p:sp>
        <p:nvSpPr>
          <p:cNvPr id="320" name="Google Shape;320;p20"/>
          <p:cNvSpPr txBox="1"/>
          <p:nvPr>
            <p:ph idx="1" type="body"/>
          </p:nvPr>
        </p:nvSpPr>
        <p:spPr>
          <a:xfrm>
            <a:off x="1303800" y="1597875"/>
            <a:ext cx="3518100" cy="293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Completed</a:t>
            </a:r>
            <a:endParaRPr/>
          </a:p>
          <a:p>
            <a:pPr indent="-311150" lvl="0" marL="457200" rtl="0" algn="l">
              <a:spcBef>
                <a:spcPts val="1200"/>
              </a:spcBef>
              <a:spcAft>
                <a:spcPts val="0"/>
              </a:spcAft>
              <a:buSzPts val="1300"/>
              <a:buChar char="-"/>
            </a:pPr>
            <a:r>
              <a:rPr lang="en"/>
              <a:t>Authentication system</a:t>
            </a:r>
            <a:endParaRPr/>
          </a:p>
          <a:p>
            <a:pPr indent="-311150" lvl="0" marL="457200" rtl="0" algn="l">
              <a:spcBef>
                <a:spcPts val="0"/>
              </a:spcBef>
              <a:spcAft>
                <a:spcPts val="0"/>
              </a:spcAft>
              <a:buSzPts val="1300"/>
              <a:buChar char="-"/>
            </a:pPr>
            <a:r>
              <a:rPr lang="en"/>
              <a:t>Database schema</a:t>
            </a:r>
            <a:endParaRPr/>
          </a:p>
          <a:p>
            <a:pPr indent="0" lvl="0" marL="0" rtl="0" algn="l">
              <a:spcBef>
                <a:spcPts val="1200"/>
              </a:spcBef>
              <a:spcAft>
                <a:spcPts val="0"/>
              </a:spcAft>
              <a:buNone/>
            </a:pPr>
            <a:r>
              <a:rPr b="1" lang="en"/>
              <a:t>In Progress</a:t>
            </a:r>
            <a:endParaRPr/>
          </a:p>
          <a:p>
            <a:pPr indent="-311150" lvl="0" marL="457200" rtl="0" algn="l">
              <a:spcBef>
                <a:spcPts val="1200"/>
              </a:spcBef>
              <a:spcAft>
                <a:spcPts val="0"/>
              </a:spcAft>
              <a:buSzPts val="1300"/>
              <a:buChar char="-"/>
            </a:pPr>
            <a:r>
              <a:rPr lang="en"/>
              <a:t>UI design</a:t>
            </a:r>
            <a:endParaRPr/>
          </a:p>
          <a:p>
            <a:pPr indent="-311150" lvl="0" marL="457200" rtl="0" algn="l">
              <a:spcBef>
                <a:spcPts val="0"/>
              </a:spcBef>
              <a:spcAft>
                <a:spcPts val="0"/>
              </a:spcAft>
              <a:buSzPts val="1300"/>
              <a:buChar char="-"/>
            </a:pPr>
            <a:r>
              <a:rPr lang="en"/>
              <a:t>AI model</a:t>
            </a:r>
            <a:endParaRPr/>
          </a:p>
          <a:p>
            <a:pPr indent="-311150" lvl="0" marL="457200" rtl="0" algn="l">
              <a:spcBef>
                <a:spcPts val="0"/>
              </a:spcBef>
              <a:spcAft>
                <a:spcPts val="0"/>
              </a:spcAft>
              <a:buSzPts val="1300"/>
              <a:buChar char="-"/>
            </a:pPr>
            <a:r>
              <a:rPr lang="en"/>
              <a:t>Group management</a:t>
            </a:r>
            <a:endParaRPr/>
          </a:p>
          <a:p>
            <a:pPr indent="-311150" lvl="0" marL="457200" rtl="0" algn="l">
              <a:spcBef>
                <a:spcPts val="0"/>
              </a:spcBef>
              <a:spcAft>
                <a:spcPts val="0"/>
              </a:spcAft>
              <a:buSzPts val="1300"/>
              <a:buChar char="-"/>
            </a:pPr>
            <a:r>
              <a:rPr lang="en"/>
              <a:t>Map integration</a:t>
            </a:r>
            <a:endParaRPr/>
          </a:p>
        </p:txBody>
      </p:sp>
      <p:sp>
        <p:nvSpPr>
          <p:cNvPr id="321" name="Google Shape;321;p20"/>
          <p:cNvSpPr txBox="1"/>
          <p:nvPr>
            <p:ph idx="1" type="body"/>
          </p:nvPr>
        </p:nvSpPr>
        <p:spPr>
          <a:xfrm>
            <a:off x="4258225" y="1597875"/>
            <a:ext cx="3518100" cy="293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Remaining Steps</a:t>
            </a:r>
            <a:endParaRPr b="1"/>
          </a:p>
          <a:p>
            <a:pPr indent="-311150" lvl="0" marL="457200" rtl="0" algn="l">
              <a:spcBef>
                <a:spcPts val="1200"/>
              </a:spcBef>
              <a:spcAft>
                <a:spcPts val="0"/>
              </a:spcAft>
              <a:buSzPts val="1300"/>
              <a:buChar char="-"/>
            </a:pPr>
            <a:r>
              <a:rPr lang="en"/>
              <a:t>Testing</a:t>
            </a:r>
            <a:endParaRPr/>
          </a:p>
          <a:p>
            <a:pPr indent="-311150" lvl="0" marL="457200" rtl="0" algn="l">
              <a:spcBef>
                <a:spcPts val="0"/>
              </a:spcBef>
              <a:spcAft>
                <a:spcPts val="0"/>
              </a:spcAft>
              <a:buSzPts val="1300"/>
              <a:buChar char="-"/>
            </a:pPr>
            <a:r>
              <a:rPr lang="en"/>
              <a:t>UI refinement</a:t>
            </a:r>
            <a:endParaRPr/>
          </a:p>
          <a:p>
            <a:pPr indent="-311150" lvl="0" marL="457200" rtl="0" algn="l">
              <a:spcBef>
                <a:spcPts val="0"/>
              </a:spcBef>
              <a:spcAft>
                <a:spcPts val="0"/>
              </a:spcAft>
              <a:buSzPts val="1300"/>
              <a:buChar char="-"/>
            </a:pPr>
            <a:r>
              <a:rPr lang="en"/>
              <a:t>Deployment &amp; documentation</a:t>
            </a:r>
            <a:endParaRPr/>
          </a:p>
          <a:p>
            <a:pPr indent="-311150" lvl="0" marL="457200" rtl="0" algn="l">
              <a:spcBef>
                <a:spcPts val="0"/>
              </a:spcBef>
              <a:spcAft>
                <a:spcPts val="0"/>
              </a:spcAft>
              <a:buSzPts val="1300"/>
              <a:buChar char="-"/>
            </a:pPr>
            <a:r>
              <a:rPr lang="en"/>
              <a:t>Final demo preparation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Challenges</a:t>
            </a:r>
            <a:endParaRPr/>
          </a:p>
        </p:txBody>
      </p:sp>
      <p:sp>
        <p:nvSpPr>
          <p:cNvPr id="327" name="Google Shape;327;p21"/>
          <p:cNvSpPr txBox="1"/>
          <p:nvPr>
            <p:ph idx="1" type="body"/>
          </p:nvPr>
        </p:nvSpPr>
        <p:spPr>
          <a:xfrm>
            <a:off x="1268575" y="1753500"/>
            <a:ext cx="7030500" cy="2541600"/>
          </a:xfrm>
          <a:prstGeom prst="rect">
            <a:avLst/>
          </a:prstGeom>
        </p:spPr>
        <p:txBody>
          <a:bodyPr anchorCtr="0" anchor="t" bIns="91425" lIns="91425" spcFirstLastPara="1" rIns="91425" wrap="square" tIns="91425">
            <a:normAutofit/>
          </a:bodyPr>
          <a:lstStyle/>
          <a:p>
            <a:pPr indent="-311150" lvl="0" marL="457200" rtl="0" algn="l">
              <a:lnSpc>
                <a:spcPct val="150000"/>
              </a:lnSpc>
              <a:spcBef>
                <a:spcPts val="0"/>
              </a:spcBef>
              <a:spcAft>
                <a:spcPts val="0"/>
              </a:spcAft>
              <a:buSzPts val="1300"/>
              <a:buChar char="●"/>
            </a:pPr>
            <a:r>
              <a:rPr lang="en"/>
              <a:t>OpenStreetMaps provide tile data (raster images), but we need data for road segments and such which is different type of data we’ll need to deal with</a:t>
            </a:r>
            <a:endParaRPr/>
          </a:p>
          <a:p>
            <a:pPr indent="-311150" lvl="0" marL="457200" rtl="0" algn="l">
              <a:lnSpc>
                <a:spcPct val="150000"/>
              </a:lnSpc>
              <a:spcBef>
                <a:spcPts val="0"/>
              </a:spcBef>
              <a:spcAft>
                <a:spcPts val="0"/>
              </a:spcAft>
              <a:buSzPts val="1300"/>
              <a:buChar char="●"/>
            </a:pPr>
            <a:r>
              <a:rPr lang="en"/>
              <a:t>Zooming out on the map could cause a ton of data to download, so we’ll need to rate limit or prevent downloading if the user is too zoomed out</a:t>
            </a:r>
            <a:endParaRPr/>
          </a:p>
          <a:p>
            <a:pPr indent="-311150" lvl="0" marL="457200" rtl="0" algn="l">
              <a:lnSpc>
                <a:spcPct val="150000"/>
              </a:lnSpc>
              <a:spcBef>
                <a:spcPts val="0"/>
              </a:spcBef>
              <a:spcAft>
                <a:spcPts val="0"/>
              </a:spcAft>
              <a:buSzPts val="1300"/>
              <a:buChar char="●"/>
            </a:pPr>
            <a:r>
              <a:rPr lang="en"/>
              <a:t>Ionic is a new technology for most of the team</a:t>
            </a:r>
            <a:endParaRPr/>
          </a:p>
          <a:p>
            <a:pPr indent="-311150" lvl="0" marL="457200" rtl="0" algn="l">
              <a:lnSpc>
                <a:spcPct val="150000"/>
              </a:lnSpc>
              <a:spcBef>
                <a:spcPts val="0"/>
              </a:spcBef>
              <a:spcAft>
                <a:spcPts val="0"/>
              </a:spcAft>
              <a:buSzPts val="1300"/>
              <a:buChar char="●"/>
            </a:pPr>
            <a:r>
              <a:rPr lang="en"/>
              <a:t>The AI model will need to be trained on some kind of data and may be too computationally expensive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